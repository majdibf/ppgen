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4"/>
  </p:sldMasterIdLst>
  <p:notesMasterIdLst>
    <p:notesMasterId r:id="rId18"/>
  </p:notesMasterIdLst>
  <p:handoutMasterIdLst>
    <p:handoutMasterId r:id="rId19"/>
  </p:handoutMasterIdLst>
  <p:sldIdLst>
    <p:sldId id="539" r:id="rId5"/>
    <p:sldId id="257" r:id="rId6"/>
    <p:sldId id="564" r:id="rId7"/>
    <p:sldId id="256" r:id="rId8"/>
    <p:sldId id="547" r:id="rId9"/>
    <p:sldId id="560" r:id="rId10"/>
    <p:sldId id="562" r:id="rId11"/>
    <p:sldId id="555" r:id="rId12"/>
    <p:sldId id="565" r:id="rId13"/>
    <p:sldId id="563" r:id="rId14"/>
    <p:sldId id="558" r:id="rId15"/>
    <p:sldId id="556" r:id="rId16"/>
    <p:sldId id="549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1D8BE-99DC-47AC-A9DB-4E5A4CFBDADB}" v="5" dt="2026-08-15T19:19:00.026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2" autoAdjust="0"/>
    <p:restoredTop sz="93760" autoAdjust="0"/>
  </p:normalViewPr>
  <p:slideViewPr>
    <p:cSldViewPr snapToGrid="0">
      <p:cViewPr varScale="1">
        <p:scale>
          <a:sx n="105" d="100"/>
          <a:sy n="105" d="100"/>
        </p:scale>
        <p:origin x="318" y="96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#1" qsCatId="simple" csTypeId="urn:microsoft.com/office/officeart/2005/8/colors/accent5_2#1" csCatId="accent5" phldr="1"/>
      <dgm:spPr/>
      <dgm:t>
        <a:bodyPr rtlCol="0"/>
        <a:lstStyle/>
        <a:p>
          <a:pPr rtl="0"/>
          <a:endParaRPr lang="en-US"/>
        </a:p>
      </dgm:t>
    </dgm:pt>
    <dgm:pt modelId="{45D50368-372D-4F79-95B9-B27BD239F0F6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Développez</a:t>
          </a:r>
        </a:p>
      </dgm:t>
    </dgm:pt>
    <dgm:pt modelId="{CDE1A78B-2AE4-4A71-9139-416C219BC84D}" type="par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508ABF25-4B40-405C-9E88-248ED8B31B83}" type="sibTrans" cxnId="{68788A78-9180-41FF-BD09-BF4DBB52EA0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5FCB7DF-D0D3-43D8-8FE5-E5FFDED6264E}">
      <dgm:prSet phldrT="[Text]" custT="1"/>
      <dgm:spPr/>
      <dgm:t>
        <a:bodyPr rtlCol="0"/>
        <a:lstStyle/>
        <a:p>
          <a:pPr algn="ctr" rtl="0">
            <a:buFont typeface="Arial" panose="020B0604020202020204" pitchFamily="34" charset="0"/>
            <a:buNone/>
          </a:pPr>
          <a:r>
            <a:rPr lang="fr" sz="1800">
              <a:latin typeface="+mn-lt"/>
            </a:rPr>
            <a:t>Favoriser la croissance collaborative</a:t>
          </a:r>
        </a:p>
      </dgm:t>
    </dgm:pt>
    <dgm:pt modelId="{5DD5E854-B70B-4927-93DD-9B930567F2D9}" type="par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DDE76206-3F7F-4788-87BA-8C9D4D26CDB9}" type="sibTrans" cxnId="{D8EBBD42-214D-4D3D-9A34-A5A6A40991CD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196543C5-093B-4437-B406-DBE4B882EA97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Améliorer</a:t>
          </a:r>
        </a:p>
      </dgm:t>
    </dgm:pt>
    <dgm:pt modelId="{41DE1F19-4A9F-48CD-A44E-6BF1D04E31EE}" type="par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F264F018-7FB9-43EC-B595-B986D351AD7B}" type="sibTrans" cxnId="{52499B9F-797A-43CC-89E1-64C52021BFAF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485168C-07AD-4DE6-B17E-1E96E93777D7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>
              <a:latin typeface="+mn-lt"/>
            </a:rPr>
            <a:t>Garantir une expérience personnalisée et axée sur l’utilisateur</a:t>
          </a:r>
        </a:p>
      </dgm:t>
    </dgm:pt>
    <dgm:pt modelId="{2EA2CE1F-978B-4B0A-92B2-CA23FBAEB8C0}" type="par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05F43B89-7F05-43F2-A0A8-66E0914D6EC4}" type="sibTrans" cxnId="{B374803A-F1D8-4C12-8B03-25954CE7DDA9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CA2BABAF-EDAA-4496-8316-FD6EA3643E8F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 b="1">
              <a:latin typeface="+mn-lt"/>
            </a:rPr>
            <a:t>Explorer</a:t>
          </a:r>
        </a:p>
      </dgm:t>
    </dgm:pt>
    <dgm:pt modelId="{2B1B4805-2FB7-402F-86A8-587F29181C18}" type="par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4498AB02-A1BF-4D28-8918-F87A89CEE23B}" type="sibTrans" cxnId="{4011B082-09BD-4DD1-A54F-EA5AB249A3C2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ABC1EDDD-C08B-4F9C-8453-9CEFCC2AF319}">
      <dgm:prSet phldrT="[Text]" custT="1"/>
      <dgm:spPr/>
      <dgm:t>
        <a:bodyPr rtlCol="0"/>
        <a:lstStyle/>
        <a:p>
          <a:pPr algn="ctr" rtl="0">
            <a:buNone/>
          </a:pPr>
          <a:r>
            <a:rPr lang="fr" sz="1800">
              <a:latin typeface="+mn-lt"/>
            </a:rPr>
            <a:t>Tirer parti des marchés mondiaux émergents</a:t>
          </a:r>
        </a:p>
      </dgm:t>
    </dgm:pt>
    <dgm:pt modelId="{33D02404-349E-4E82-A8BA-C0A907006883}" type="par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7D85D88C-6545-49D9-9F9D-01270187B165}" type="sibTrans" cxnId="{9C4BE375-6187-4BD4-A343-9FC71D796AF1}">
      <dgm:prSet/>
      <dgm:spPr/>
      <dgm:t>
        <a:bodyPr rtlCol="0"/>
        <a:lstStyle/>
        <a:p>
          <a:pPr rtl="0"/>
          <a:endParaRPr lang="en-US" sz="1800">
            <a:latin typeface="+mn-lt"/>
          </a:endParaRPr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B374803A-F1D8-4C12-8B03-25954CE7DDA9}" srcId="{196543C5-093B-4437-B406-DBE4B882EA97}" destId="{C485168C-07AD-4DE6-B17E-1E96E93777D7}" srcOrd="0" destOrd="0" parTransId="{2EA2CE1F-978B-4B0A-92B2-CA23FBAEB8C0}" sibTransId="{05F43B89-7F05-43F2-A0A8-66E0914D6EC4}"/>
    <dgm:cxn modelId="{D8EBBD42-214D-4D3D-9A34-A5A6A40991CD}" srcId="{45D50368-372D-4F79-95B9-B27BD239F0F6}" destId="{15FCB7DF-D0D3-43D8-8FE5-E5FFDED6264E}" srcOrd="0" destOrd="0" parTransId="{5DD5E854-B70B-4927-93DD-9B930567F2D9}" sibTransId="{DDE76206-3F7F-4788-87BA-8C9D4D26CDB9}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F12E74E0-3FC7-4399-A4D7-928B7B4EA7A0}" type="presOf" srcId="{15FCB7DF-D0D3-43D8-8FE5-E5FFDED6264E}" destId="{7103C4FE-7A4B-41EF-8814-669D0064B6EF}" srcOrd="0" destOrd="1" presId="urn:microsoft.com/office/officeart/2005/8/layout/hProcess11"/>
    <dgm:cxn modelId="{60BF31ED-B4A4-412E-B0A4-FCF5721F407F}" type="presOf" srcId="{C485168C-07AD-4DE6-B17E-1E96E93777D7}" destId="{C72ECC98-97C1-4FA6-9751-2F88545F8213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630936"/>
          <a:ext cx="10423525" cy="841248"/>
        </a:xfrm>
        <a:prstGeom prst="notched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4580" y="0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Développez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fr" sz="1800" kern="1200">
              <a:latin typeface="+mn-lt"/>
            </a:rPr>
            <a:t>Favoriser la croissance collaborative</a:t>
          </a:r>
        </a:p>
      </dsp:txBody>
      <dsp:txXfrm>
        <a:off x="4580" y="0"/>
        <a:ext cx="3023229" cy="841248"/>
      </dsp:txXfrm>
    </dsp:sp>
    <dsp:sp modelId="{69242FCE-B1A3-4CB0-90C2-CB5EC309668C}">
      <dsp:nvSpPr>
        <dsp:cNvPr id="0" name=""/>
        <dsp:cNvSpPr/>
      </dsp:nvSpPr>
      <dsp:spPr>
        <a:xfrm>
          <a:off x="1411039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178971" y="1261872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t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Améliorer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800" kern="1200">
              <a:latin typeface="+mn-lt"/>
            </a:rPr>
            <a:t>Garantir une expérience personnalisée et axée sur l’utilisateur</a:t>
          </a:r>
        </a:p>
      </dsp:txBody>
      <dsp:txXfrm>
        <a:off x="3178971" y="1261872"/>
        <a:ext cx="3023229" cy="841248"/>
      </dsp:txXfrm>
    </dsp:sp>
    <dsp:sp modelId="{8A3CF5DF-2912-4784-8B16-20EF1087B16D}">
      <dsp:nvSpPr>
        <dsp:cNvPr id="0" name=""/>
        <dsp:cNvSpPr/>
      </dsp:nvSpPr>
      <dsp:spPr>
        <a:xfrm>
          <a:off x="4585430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353362" y="0"/>
          <a:ext cx="3023229" cy="84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rtlCol="0" anchor="b" anchorCtr="1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" sz="1800" b="1" kern="1200">
              <a:latin typeface="+mn-lt"/>
            </a:rPr>
            <a:t>Explorer</a:t>
          </a:r>
        </a:p>
        <a:p>
          <a:pPr marL="171450" lvl="1" indent="-171450" algn="ctr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" sz="1800" kern="1200">
              <a:latin typeface="+mn-lt"/>
            </a:rPr>
            <a:t>Tirer parti des marchés mondiaux émergents</a:t>
          </a:r>
        </a:p>
      </dsp:txBody>
      <dsp:txXfrm>
        <a:off x="6353362" y="0"/>
        <a:ext cx="3023229" cy="841248"/>
      </dsp:txXfrm>
    </dsp:sp>
    <dsp:sp modelId="{AE8B9E76-450B-4587-ADD0-D709E0D11B62}">
      <dsp:nvSpPr>
        <dsp:cNvPr id="0" name=""/>
        <dsp:cNvSpPr/>
      </dsp:nvSpPr>
      <dsp:spPr>
        <a:xfrm>
          <a:off x="7759821" y="946404"/>
          <a:ext cx="210312" cy="21031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de l'espace réservé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4DA340-CA88-40FE-8D9F-FB95A67E2ACC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Pied de page Espace réservé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4C7120-FABF-42CA-85D1-839480B5B4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Date de l'espace réservé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90BC4F2-6A87-450D-AD53-D2188421BC53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Espace réservé pour 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C3B2649-7BD8-4005-A99E-30D13769A8B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03401A8-3220-413E-B964-4A8659985FD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8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3B2649-7BD8-4005-A99E-30D13769A8B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95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4C3B2649-7BD8-4005-A99E-30D13769A8B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5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0AF812-9F51-0D2C-2EA5-A8D6DA66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0952" y="754711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3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tangle 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1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5">
            <a:extLst>
              <a:ext uri="{FF2B5EF4-FFF2-40B4-BE49-F238E27FC236}">
                <a16:creationId xmlns:a16="http://schemas.microsoft.com/office/drawing/2014/main" id="{751A4182-6276-41ED-8EAF-0C6A4D8FF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17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Sous-titr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r>
              <a:rPr lang="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58952"/>
            <a:ext cx="6099048" cy="5340096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avec sous-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0" anchor="b">
            <a:normAutofit/>
          </a:bodyPr>
          <a:lstStyle>
            <a:lvl1pPr>
              <a:defRPr sz="4400"/>
            </a:lvl1pPr>
          </a:lstStyle>
          <a:p>
            <a:pPr algn="l" rtl="0"/>
            <a:endParaRPr lang="en-US" dirty="0"/>
          </a:p>
        </p:txBody>
      </p:sp>
      <p:sp>
        <p:nvSpPr>
          <p:cNvPr id="16" name="Sous-titre 17">
            <a:extLst>
              <a:ext uri="{FF2B5EF4-FFF2-40B4-BE49-F238E27FC236}">
                <a16:creationId xmlns:a16="http://schemas.microsoft.com/office/drawing/2014/main" id="{81E38157-454C-44D5-8D2B-A220A53D7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</a:lstStyle>
          <a:p>
            <a:pPr algn="l" rtl="0"/>
            <a:endParaRPr lang="en-US" dirty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756284"/>
            <a:ext cx="4434840" cy="534924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2" name="Forme libre : Forme 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endParaRPr lang="en-US" dirty="0"/>
          </a:p>
        </p:txBody>
      </p:sp>
      <p:sp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883487"/>
            <a:ext cx="4562856" cy="5148072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B73FFA1-F0AE-DFF4-B013-E635479FD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2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ut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1D03AAFC-F6FA-4A24-BE1D-34AE6AD6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16">
            <a:extLst>
              <a:ext uri="{FF2B5EF4-FFF2-40B4-BE49-F238E27FC236}">
                <a16:creationId xmlns:a16="http://schemas.microsoft.com/office/drawing/2014/main" id="{8950CCE3-163E-46A1-B489-395F3F75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algn="l" rtl="0"/>
            <a:endParaRPr lang="en-US" dirty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190B39-D040-425A-9AD6-58A7533FEA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65976" y="756284"/>
            <a:ext cx="4773168" cy="534924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9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A1CC7-4419-4A64-9DC9-AE157407A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8A2F8EC6-DD66-475C-B129-22B374F49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99048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2" name="Forme libre : Forme 11">
            <a:extLst>
              <a:ext uri="{FF2B5EF4-FFF2-40B4-BE49-F238E27FC236}">
                <a16:creationId xmlns:a16="http://schemas.microsoft.com/office/drawing/2014/main" id="{86FA963F-8B94-469B-B1A5-890D9134F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1999" y="0"/>
            <a:ext cx="11430001" cy="6168789"/>
          </a:xfrm>
          <a:custGeom>
            <a:avLst/>
            <a:gdLst>
              <a:gd name="connsiteX0" fmla="*/ 0 w 11430001"/>
              <a:gd name="connsiteY0" fmla="*/ 0 h 6168789"/>
              <a:gd name="connsiteX1" fmla="*/ 5334002 w 11430001"/>
              <a:gd name="connsiteY1" fmla="*/ 0 h 6168789"/>
              <a:gd name="connsiteX2" fmla="*/ 5334002 w 11430001"/>
              <a:gd name="connsiteY2" fmla="*/ 771523 h 6168789"/>
              <a:gd name="connsiteX3" fmla="*/ 11430001 w 11430001"/>
              <a:gd name="connsiteY3" fmla="*/ 771523 h 6168789"/>
              <a:gd name="connsiteX4" fmla="*/ 11430001 w 11430001"/>
              <a:gd name="connsiteY4" fmla="*/ 6168789 h 6168789"/>
              <a:gd name="connsiteX5" fmla="*/ 0 w 11430001"/>
              <a:gd name="connsiteY5" fmla="*/ 6168789 h 6168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01" h="6168789">
                <a:moveTo>
                  <a:pt x="0" y="0"/>
                </a:moveTo>
                <a:lnTo>
                  <a:pt x="5334002" y="0"/>
                </a:lnTo>
                <a:lnTo>
                  <a:pt x="5334002" y="771523"/>
                </a:lnTo>
                <a:lnTo>
                  <a:pt x="11430001" y="771523"/>
                </a:lnTo>
                <a:lnTo>
                  <a:pt x="11430001" y="6168789"/>
                </a:lnTo>
                <a:lnTo>
                  <a:pt x="0" y="6168789"/>
                </a:lnTo>
                <a:close/>
              </a:path>
            </a:pathLst>
          </a:cu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3" name="Titre 5">
            <a:extLst>
              <a:ext uri="{FF2B5EF4-FFF2-40B4-BE49-F238E27FC236}">
                <a16:creationId xmlns:a16="http://schemas.microsoft.com/office/drawing/2014/main" id="{4CD44A43-6E39-4FE6-87BB-C65CE8FC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endParaRPr lang="en-US" dirty="0"/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0C795068-4EB8-AD75-B4FA-E0676D823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8" name="Espace réservé d’image 17">
            <a:extLst>
              <a:ext uri="{FF2B5EF4-FFF2-40B4-BE49-F238E27FC236}">
                <a16:creationId xmlns:a16="http://schemas.microsoft.com/office/drawing/2014/main" id="{5229EB0D-B986-4E26-BDF3-305AE3233E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00954" y="883486"/>
            <a:ext cx="4562856" cy="5212513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0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6792" y="3108960"/>
            <a:ext cx="4334256" cy="301752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2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ux contenus">
    <p:bg>
      <p:bgPr>
        <a:gradFill>
          <a:gsLst>
            <a:gs pos="10000">
              <a:schemeClr val="accent5"/>
            </a:gs>
            <a:gs pos="90000">
              <a:schemeClr val="accent1"/>
            </a:gs>
            <a:gs pos="70000">
              <a:schemeClr val="accent2"/>
            </a:gs>
            <a:gs pos="30000">
              <a:schemeClr val="accent4"/>
            </a:gs>
            <a:gs pos="50000">
              <a:schemeClr val="accent3">
                <a:lumMod val="60000"/>
                <a:lumOff val="40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E0814-6B26-FB38-93C1-BA5A000B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5340096" cy="1911096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56DDD407-AEC1-3D37-ADE9-45D0416B20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5340096" cy="1911096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6200E1C4-7A2D-07AE-8DB0-52CEF088A1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86968" y="3867912"/>
            <a:ext cx="10424160" cy="23774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10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Rectangle 5">
            <a:extLst>
              <a:ext uri="{FF2B5EF4-FFF2-40B4-BE49-F238E27FC236}">
                <a16:creationId xmlns:a16="http://schemas.microsoft.com/office/drawing/2014/main" id="{70DED2D7-7BC9-473D-8241-8289B5821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Titre 9">
            <a:extLst>
              <a:ext uri="{FF2B5EF4-FFF2-40B4-BE49-F238E27FC236}">
                <a16:creationId xmlns:a16="http://schemas.microsoft.com/office/drawing/2014/main" id="{DF86B59D-D895-19E7-B742-EE199B71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A7544B75-76FD-A2AD-3444-313EF1771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0">
            <a:normAutofit/>
          </a:bodyPr>
          <a:lstStyle>
            <a:lvl1pPr>
              <a:spcBef>
                <a:spcPts val="500"/>
              </a:spcBef>
              <a:defRPr sz="1800" b="1"/>
            </a:lvl1pPr>
            <a:lvl2pPr>
              <a:spcBef>
                <a:spcPts val="0"/>
              </a:spcBef>
              <a:spcAft>
                <a:spcPts val="500"/>
              </a:spcAft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0F9EB1B3-9B21-0E61-FC8A-659EDC63DA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98664" y="3108960"/>
            <a:ext cx="3739896" cy="29260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3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3108960"/>
            <a:ext cx="9144000" cy="2926080"/>
          </a:xfrm>
        </p:spPr>
        <p:txBody>
          <a:bodyPr rtlCol="0"/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r" rtl="0"/>
            <a:r>
              <a:rPr lang="fr"/>
              <a:t>1/3/20XX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05435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4206240" cy="2011680"/>
          </a:xfrm>
        </p:spPr>
        <p:txBody>
          <a:bodyPr rtlCol="0">
            <a:normAutofit/>
          </a:bodyPr>
          <a:lstStyle>
            <a:lvl1pPr>
              <a:defRPr sz="3200"/>
            </a:lvl1pPr>
          </a:lstStyle>
          <a:p>
            <a:pPr rtl="0"/>
            <a:r>
              <a:rPr lang="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739896"/>
            <a:ext cx="4206240" cy="237744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A336BAA8-288D-4A65-AF12-E44ED08AF8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1517904"/>
            <a:ext cx="4572000" cy="457200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fr"/>
              <a:t>1/3/20XX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1E4CB7-CB13-4810-BF18-BE31AFC64F9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741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ô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 11">
            <a:extLst>
              <a:ext uri="{FF2B5EF4-FFF2-40B4-BE49-F238E27FC236}">
                <a16:creationId xmlns:a16="http://schemas.microsoft.com/office/drawing/2014/main" id="{A53A25B7-A924-4C03-8022-000A9EA88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4E3A68D8-CB71-4A41-B029-626BD6912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9524"/>
            <a:ext cx="12192000" cy="6105524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rgbClr val="FCEA37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 useBgFill="1">
        <p:nvSpPr>
          <p:cNvPr id="14" name="Forme libre : Forme 13">
            <a:extLst>
              <a:ext uri="{FF2B5EF4-FFF2-40B4-BE49-F238E27FC236}">
                <a16:creationId xmlns:a16="http://schemas.microsoft.com/office/drawing/2014/main" id="{9ECFC55D-2CEE-47A4-9ACA-D6C78D236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" y="-9523"/>
            <a:ext cx="11430001" cy="6105523"/>
          </a:xfrm>
          <a:custGeom>
            <a:avLst/>
            <a:gdLst>
              <a:gd name="connsiteX0" fmla="*/ 0 w 11430001"/>
              <a:gd name="connsiteY0" fmla="*/ 0 h 6105523"/>
              <a:gd name="connsiteX1" fmla="*/ 7874003 w 11430001"/>
              <a:gd name="connsiteY1" fmla="*/ 0 h 6105523"/>
              <a:gd name="connsiteX2" fmla="*/ 7874003 w 11430001"/>
              <a:gd name="connsiteY2" fmla="*/ 771522 h 6105523"/>
              <a:gd name="connsiteX3" fmla="*/ 11430001 w 11430001"/>
              <a:gd name="connsiteY3" fmla="*/ 771522 h 6105523"/>
              <a:gd name="connsiteX4" fmla="*/ 11430001 w 11430001"/>
              <a:gd name="connsiteY4" fmla="*/ 6105523 h 6105523"/>
              <a:gd name="connsiteX5" fmla="*/ 7874003 w 11430001"/>
              <a:gd name="connsiteY5" fmla="*/ 6105523 h 6105523"/>
              <a:gd name="connsiteX6" fmla="*/ 5334002 w 11430001"/>
              <a:gd name="connsiteY6" fmla="*/ 6105523 h 6105523"/>
              <a:gd name="connsiteX7" fmla="*/ 0 w 11430001"/>
              <a:gd name="connsiteY7" fmla="*/ 6105523 h 6105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30001" h="6105523">
                <a:moveTo>
                  <a:pt x="0" y="0"/>
                </a:moveTo>
                <a:lnTo>
                  <a:pt x="7874003" y="0"/>
                </a:lnTo>
                <a:lnTo>
                  <a:pt x="7874003" y="771522"/>
                </a:lnTo>
                <a:lnTo>
                  <a:pt x="11430001" y="771522"/>
                </a:lnTo>
                <a:lnTo>
                  <a:pt x="11430001" y="6105523"/>
                </a:lnTo>
                <a:lnTo>
                  <a:pt x="7874003" y="6105523"/>
                </a:lnTo>
                <a:lnTo>
                  <a:pt x="5334002" y="6105523"/>
                </a:lnTo>
                <a:lnTo>
                  <a:pt x="0" y="6105523"/>
                </a:lnTo>
                <a:close/>
              </a:path>
            </a:pathLst>
          </a:custGeom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Titre 5">
            <a:extLst>
              <a:ext uri="{FF2B5EF4-FFF2-40B4-BE49-F238E27FC236}">
                <a16:creationId xmlns:a16="http://schemas.microsoft.com/office/drawing/2014/main" id="{00406F9C-B330-46B3-A03C-15F85CD76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0" anchor="t">
            <a:normAutofit/>
          </a:bodyPr>
          <a:lstStyle>
            <a:lvl1pPr>
              <a:defRPr sz="4400"/>
            </a:lvl1pPr>
          </a:lstStyle>
          <a:p>
            <a:pPr rtl="0"/>
            <a:endParaRPr lang="en-US" dirty="0"/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34FC9061-555D-4FE2-ABE9-07A195BC02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" y="761988"/>
            <a:ext cx="10689336" cy="2660904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B179E90-1F70-6673-6D11-A0CDD3C3B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5486400"/>
            <a:ext cx="10241280" cy="548640"/>
          </a:xfrm>
        </p:spPr>
        <p:txBody>
          <a:bodyPr rtlCol="0" anchor="b"/>
          <a:lstStyle>
            <a:lvl1pPr marL="0" indent="0">
              <a:buNone/>
              <a:defRPr/>
            </a:lvl1pPr>
          </a:lstStyle>
          <a:p>
            <a:pPr lvl="0" rtl="0"/>
            <a:r>
              <a:rPr lang="fr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397166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"/>
              <a:t>Modifiez les styles du texte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 rtl="0"/>
            <a:r>
              <a:rPr lang="fr"/>
              <a:t>1/3/20XX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rtl="0"/>
            <a:endParaRPr lang="en-US" sz="10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pPr rtl="0"/>
            <a:fld id="{CB1E4CB7-CB13-4810-BF18-BE31AFC64F93}" type="slidenum">
              <a:rPr lang="en-US" smtClean="0"/>
              <a:pPr rtl="0"/>
              <a:t>‹N°›</a:t>
            </a:fld>
            <a:endParaRPr lang="en-US" sz="1000" dirty="0"/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6" r:id="rId2"/>
    <p:sldLayoutId id="2147483694" r:id="rId3"/>
    <p:sldLayoutId id="2147483697" r:id="rId4"/>
    <p:sldLayoutId id="2147483685" r:id="rId5"/>
    <p:sldLayoutId id="2147483686" r:id="rId6"/>
    <p:sldLayoutId id="2147483695" r:id="rId7"/>
    <p:sldLayoutId id="2147483688" r:id="rId8"/>
    <p:sldLayoutId id="2147483698" r:id="rId9"/>
    <p:sldLayoutId id="2147483684" r:id="rId10"/>
    <p:sldLayoutId id="2147483673" r:id="rId11"/>
    <p:sldLayoutId id="2147483689" r:id="rId12"/>
    <p:sldLayoutId id="2147483691" r:id="rId13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>
            <a:extLst>
              <a:ext uri="{FF2B5EF4-FFF2-40B4-BE49-F238E27FC236}">
                <a16:creationId xmlns:a16="http://schemas.microsoft.com/office/drawing/2014/main" id="{C60B4E40-ED59-4DFA-97D2-04570E28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4114800" cy="3474720"/>
          </a:xfrm>
        </p:spPr>
        <p:txBody>
          <a:bodyPr rtlCol="0" anchor="ctr">
            <a:normAutofit/>
          </a:bodyPr>
          <a:lstStyle/>
          <a:p>
            <a:pPr rtl="0"/>
            <a:r>
              <a:rPr lang="fr"/>
              <a:t>Présentation marketing </a:t>
            </a:r>
          </a:p>
        </p:txBody>
      </p:sp>
      <p:sp>
        <p:nvSpPr>
          <p:cNvPr id="20" name="Sous-titre 19">
            <a:extLst>
              <a:ext uri="{FF2B5EF4-FFF2-40B4-BE49-F238E27FC236}">
                <a16:creationId xmlns:a16="http://schemas.microsoft.com/office/drawing/2014/main" id="{35E6FB68-BA70-4F6F-9874-1F349422D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0807"/>
            <a:ext cx="4123899" cy="1524000"/>
          </a:xfrm>
        </p:spPr>
        <p:txBody>
          <a:bodyPr rtlCol="0">
            <a:normAutofit/>
          </a:bodyPr>
          <a:lstStyle/>
          <a:p>
            <a:pPr rtl="0"/>
            <a:r>
              <a:rPr lang="fr"/>
              <a:t>Dailan Neal</a:t>
            </a:r>
          </a:p>
        </p:txBody>
      </p:sp>
      <p:pic>
        <p:nvPicPr>
          <p:cNvPr id="10" name="Espace réservé d’image 9" descr="Image d’un smoothie jaune avec des fruits en arrière-plan.&#10;">
            <a:extLst>
              <a:ext uri="{FF2B5EF4-FFF2-40B4-BE49-F238E27FC236}">
                <a16:creationId xmlns:a16="http://schemas.microsoft.com/office/drawing/2014/main" id="{EAC24423-E635-494B-9CD9-DF28FD91BE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r="41"/>
          <a:stretch/>
        </p:blipFill>
        <p:spPr>
          <a:xfrm>
            <a:off x="5330952" y="754711"/>
            <a:ext cx="6099048" cy="5340096"/>
          </a:xfrm>
        </p:spPr>
      </p:pic>
    </p:spTree>
    <p:extLst>
      <p:ext uri="{BB962C8B-B14F-4D97-AF65-F5344CB8AC3E}">
        <p14:creationId xmlns:p14="http://schemas.microsoft.com/office/powerpoint/2010/main" val="90140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4CF172-3947-42CE-B33F-43FB799F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 rtlCol="0"/>
          <a:lstStyle/>
          <a:p>
            <a:pPr rtl="0"/>
            <a:r>
              <a:rPr lang="fr"/>
              <a:t>Ordre du jour</a:t>
            </a:r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F2F14772-A1EE-4EA8-8C5D-46383706A5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 rtlCol="0">
            <a:normAutofit/>
          </a:bodyPr>
          <a:lstStyle/>
          <a:p>
            <a:pPr rtl="0"/>
            <a:r>
              <a:rPr lang="fr"/>
              <a:t>À propos de nous</a:t>
            </a:r>
          </a:p>
          <a:p>
            <a:pPr rtl="0"/>
            <a:r>
              <a:rPr lang="fr"/>
              <a:t>Présentation du produit</a:t>
            </a:r>
          </a:p>
          <a:p>
            <a:pPr rtl="0"/>
            <a:r>
              <a:rPr lang="fr"/>
              <a:t>Aperçu du marché</a:t>
            </a:r>
          </a:p>
          <a:p>
            <a:pPr rtl="0"/>
            <a:r>
              <a:rPr lang="fr"/>
              <a:t>Stratégie de croissance</a:t>
            </a:r>
          </a:p>
          <a:p>
            <a:pPr rtl="0"/>
            <a:r>
              <a:rPr lang="fr"/>
              <a:t>Résumé</a:t>
            </a:r>
          </a:p>
        </p:txBody>
      </p:sp>
    </p:spTree>
    <p:extLst>
      <p:ext uri="{BB962C8B-B14F-4D97-AF65-F5344CB8AC3E}">
        <p14:creationId xmlns:p14="http://schemas.microsoft.com/office/powerpoint/2010/main" val="326050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36991D1-444A-535F-FEE3-EB4604B0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0" y="841248"/>
            <a:ext cx="4114800" cy="347472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fr"/>
              <a:t>À propos de nous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79F282F1-6A9B-4AEC-B229-20A3E6BF2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6641" y="4570807"/>
            <a:ext cx="4114800" cy="1524000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fr"/>
              <a:t>Visant à révolutionner les secteurs par le biais de nos solutions orientées vers l’avant</a:t>
            </a:r>
          </a:p>
        </p:txBody>
      </p:sp>
      <p:pic>
        <p:nvPicPr>
          <p:cNvPr id="6" name="Espace réservé d’image 5" descr="Tranches de pastèque avec des noyaux">
            <a:extLst>
              <a:ext uri="{FF2B5EF4-FFF2-40B4-BE49-F238E27FC236}">
                <a16:creationId xmlns:a16="http://schemas.microsoft.com/office/drawing/2014/main" id="{C85D0575-49C3-5296-7757-D9C7E07DC7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7112" r="7112"/>
          <a:stretch/>
        </p:blipFill>
        <p:spPr>
          <a:xfrm>
            <a:off x="758952" y="758952"/>
            <a:ext cx="6099048" cy="5340096"/>
          </a:xfrm>
        </p:spPr>
      </p:pic>
    </p:spTree>
    <p:extLst>
      <p:ext uri="{BB962C8B-B14F-4D97-AF65-F5344CB8AC3E}">
        <p14:creationId xmlns:p14="http://schemas.microsoft.com/office/powerpoint/2010/main" val="310326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AF764D8E-8D44-4B0E-A17E-DF05833AC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5212080" cy="2788920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fr"/>
              <a:t>Présentation du produit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EE30C49B-3963-5357-7913-37FEE1C74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1999"/>
            <a:ext cx="5212080" cy="1645920"/>
          </a:xfrm>
        </p:spPr>
        <p:txBody>
          <a:bodyPr rtlCol="0">
            <a:normAutofit fontScale="92500"/>
          </a:bodyPr>
          <a:lstStyle/>
          <a:p>
            <a:pPr rtl="0"/>
            <a:r>
              <a:rPr lang="fr"/>
              <a:t>En combinant fonctionnalité et convivialité, nous permettons aux utilisateurs de rationaliser leurs opérations et d'améliorer leur efficacité</a:t>
            </a:r>
          </a:p>
        </p:txBody>
      </p:sp>
      <p:pic>
        <p:nvPicPr>
          <p:cNvPr id="8" name="Espace réservé d’image 7" descr="Gros plan d’une tranche de gâteau">
            <a:extLst>
              <a:ext uri="{FF2B5EF4-FFF2-40B4-BE49-F238E27FC236}">
                <a16:creationId xmlns:a16="http://schemas.microsoft.com/office/drawing/2014/main" id="{794FCA34-8775-307F-A2B4-9661CAE587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7" b="7"/>
          <a:stretch/>
        </p:blipFill>
        <p:spPr>
          <a:xfrm>
            <a:off x="7013448" y="756284"/>
            <a:ext cx="4434840" cy="5349240"/>
          </a:xfrm>
        </p:spPr>
      </p:pic>
    </p:spTree>
    <p:extLst>
      <p:ext uri="{BB962C8B-B14F-4D97-AF65-F5344CB8AC3E}">
        <p14:creationId xmlns:p14="http://schemas.microsoft.com/office/powerpoint/2010/main" val="71428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393C99-3405-401F-845E-319BF9031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1616" y="1517649"/>
            <a:ext cx="4663440" cy="1554480"/>
          </a:xfrm>
        </p:spPr>
        <p:txBody>
          <a:bodyPr rtlCol="0">
            <a:normAutofit/>
          </a:bodyPr>
          <a:lstStyle/>
          <a:p>
            <a:pPr rtl="0"/>
            <a:r>
              <a:rPr lang="fr"/>
              <a:t>Avantages du produit</a:t>
            </a:r>
          </a:p>
        </p:txBody>
      </p:sp>
      <p:pic>
        <p:nvPicPr>
          <p:cNvPr id="7" name="Espace réservé d’image 6" descr="Gros plan sur des tranches de kiwi">
            <a:extLst>
              <a:ext uri="{FF2B5EF4-FFF2-40B4-BE49-F238E27FC236}">
                <a16:creationId xmlns:a16="http://schemas.microsoft.com/office/drawing/2014/main" id="{E477BA3C-A009-4BDC-A7A7-098178B989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t="2191" b="2191"/>
          <a:stretch/>
        </p:blipFill>
        <p:spPr>
          <a:xfrm>
            <a:off x="758952" y="883487"/>
            <a:ext cx="4562856" cy="5148072"/>
          </a:xfrm>
        </p:spPr>
      </p:pic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98C71850-2415-3A61-92A8-AE037E3246E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71616" y="3291840"/>
            <a:ext cx="4663440" cy="2743200"/>
          </a:xfrm>
        </p:spPr>
        <p:txBody>
          <a:bodyPr rtlCol="0"/>
          <a:lstStyle/>
          <a:p>
            <a:pPr rtl="0"/>
            <a:r>
              <a:rPr lang="fr"/>
              <a:t>Productivité accrue</a:t>
            </a:r>
          </a:p>
          <a:p>
            <a:pPr rtl="0"/>
            <a:r>
              <a:rPr lang="fr"/>
              <a:t>Intégration transparente</a:t>
            </a:r>
          </a:p>
          <a:p>
            <a:pPr rtl="0"/>
            <a:r>
              <a:rPr lang="fr"/>
              <a:t>Expérience utilisateur améliorée</a:t>
            </a:r>
          </a:p>
          <a:p>
            <a:pPr rtl="0"/>
            <a:r>
              <a:rPr lang="fr"/>
              <a:t>Extensibilité pour une croissance future</a:t>
            </a:r>
          </a:p>
          <a:p>
            <a:pPr rtl="0"/>
            <a:r>
              <a:rPr lang="fr"/>
              <a:t>Apprentissage convivial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8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AF764D8E-8D44-4B0E-A17E-DF05833AC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3"/>
            <a:ext cx="4663440" cy="4590288"/>
          </a:xfrm>
        </p:spPr>
        <p:txBody>
          <a:bodyPr rtlCol="0" anchor="ctr" anchorCtr="0">
            <a:noAutofit/>
          </a:bodyPr>
          <a:lstStyle/>
          <a:p>
            <a:pPr rtl="0"/>
            <a:r>
              <a:rPr lang="fr"/>
              <a:t>Aperçu du marché</a:t>
            </a:r>
          </a:p>
        </p:txBody>
      </p:sp>
      <p:pic>
        <p:nvPicPr>
          <p:cNvPr id="12" name="Espace réservé d’image 11" descr="Bananes">
            <a:extLst>
              <a:ext uri="{FF2B5EF4-FFF2-40B4-BE49-F238E27FC236}">
                <a16:creationId xmlns:a16="http://schemas.microsoft.com/office/drawing/2014/main" id="{0E7FD06F-FD7E-4F39-B40E-790316D5A6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257" r="20257"/>
          <a:stretch/>
        </p:blipFill>
        <p:spPr>
          <a:xfrm>
            <a:off x="6665976" y="756284"/>
            <a:ext cx="4773168" cy="5349240"/>
          </a:xfrm>
        </p:spPr>
      </p:pic>
    </p:spTree>
    <p:extLst>
      <p:ext uri="{BB962C8B-B14F-4D97-AF65-F5344CB8AC3E}">
        <p14:creationId xmlns:p14="http://schemas.microsoft.com/office/powerpoint/2010/main" val="70496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0893E-F8B1-EF3E-89B9-F5F1D65B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649"/>
            <a:ext cx="4754880" cy="1645920"/>
          </a:xfrm>
        </p:spPr>
        <p:txBody>
          <a:bodyPr rtlCol="0">
            <a:normAutofit/>
          </a:bodyPr>
          <a:lstStyle/>
          <a:p>
            <a:pPr rtl="0"/>
            <a:r>
              <a:rPr lang="fr"/>
              <a:t>Comparaison du marché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23CE332-C2D5-49A7-1080-DB59647EF2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904" y="3291840"/>
            <a:ext cx="4754880" cy="2743200"/>
          </a:xfrm>
        </p:spPr>
        <p:txBody>
          <a:bodyPr rtlCol="0"/>
          <a:lstStyle/>
          <a:p>
            <a:pPr rtl="0"/>
            <a:r>
              <a:rPr lang="fr"/>
              <a:t>Se distingue sur le marché</a:t>
            </a:r>
          </a:p>
          <a:p>
            <a:pPr rtl="0"/>
            <a:r>
              <a:rPr lang="fr"/>
              <a:t>Fonctionnalités innovantes</a:t>
            </a:r>
          </a:p>
          <a:p>
            <a:pPr rtl="0"/>
            <a:r>
              <a:rPr lang="fr"/>
              <a:t>Fournit une solution unique</a:t>
            </a:r>
          </a:p>
          <a:p>
            <a:pPr rtl="0"/>
            <a:r>
              <a:rPr lang="fr"/>
              <a:t>Edge sur les concurrents</a:t>
            </a:r>
          </a:p>
          <a:p>
            <a:pPr rtl="0"/>
            <a:r>
              <a:rPr lang="fr"/>
              <a:t>Conception axée sur l’utilisateur</a:t>
            </a:r>
          </a:p>
          <a:p>
            <a:pPr rtl="0"/>
            <a:r>
              <a:rPr lang="fr"/>
              <a:t>Privilégie l'expérience utilisateur </a:t>
            </a:r>
          </a:p>
          <a:p>
            <a:pPr rtl="0"/>
            <a:endParaRPr lang="en-US" dirty="0"/>
          </a:p>
        </p:txBody>
      </p:sp>
      <p:pic>
        <p:nvPicPr>
          <p:cNvPr id="5" name="Espace réservé d’image 19" descr="Image de sucettes glacées colorées sur de la glace">
            <a:extLst>
              <a:ext uri="{FF2B5EF4-FFF2-40B4-BE49-F238E27FC236}">
                <a16:creationId xmlns:a16="http://schemas.microsoft.com/office/drawing/2014/main" id="{BA65276A-CC55-0C0B-2D3E-8211549ED9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7" b="8497"/>
          <a:stretch/>
        </p:blipFill>
        <p:spPr>
          <a:xfrm>
            <a:off x="6900954" y="883486"/>
            <a:ext cx="4562856" cy="5212513"/>
          </a:xfrm>
        </p:spPr>
      </p:pic>
    </p:spTree>
    <p:extLst>
      <p:ext uri="{BB962C8B-B14F-4D97-AF65-F5344CB8AC3E}">
        <p14:creationId xmlns:p14="http://schemas.microsoft.com/office/powerpoint/2010/main" val="320879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0A7EF77-B3A6-4EC7-9C15-89EEB984E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>
            <a:noAutofit/>
          </a:bodyPr>
          <a:lstStyle/>
          <a:p>
            <a:pPr rtl="0"/>
            <a:r>
              <a:rPr lang="fr"/>
              <a:t>Paysage concurrentiel</a:t>
            </a:r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975B74AE-546C-4A26-BDD5-2BD124FD2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17650" y="3108325"/>
            <a:ext cx="4333875" cy="3017838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fr"/>
              <a:t>Forte présence sur le marché</a:t>
            </a:r>
          </a:p>
          <a:p>
            <a:pPr rtl="0"/>
            <a:r>
              <a:rPr lang="fr"/>
              <a:t>Positionné en tant que leader du marché</a:t>
            </a:r>
          </a:p>
          <a:p>
            <a:pPr rtl="0"/>
            <a:r>
              <a:rPr lang="fr"/>
              <a:t>Tirer parti d’une infrastructure robuste</a:t>
            </a:r>
          </a:p>
          <a:p>
            <a:pPr rtl="0"/>
            <a:r>
              <a:rPr lang="fr"/>
              <a:t>Équipe dédiée d’experts</a:t>
            </a:r>
          </a:p>
          <a:p>
            <a:pPr rtl="0"/>
            <a:r>
              <a:rPr lang="fr"/>
              <a:t>Meilleures performances que les concurrents</a:t>
            </a:r>
          </a:p>
          <a:p>
            <a:pPr rtl="0"/>
            <a:r>
              <a:rPr lang="fr"/>
              <a:t>Bonne notoriété de la marque</a:t>
            </a:r>
          </a:p>
        </p:txBody>
      </p:sp>
      <p:sp>
        <p:nvSpPr>
          <p:cNvPr id="5" name="Espace réservé de contenu 4">
            <a:extLst>
              <a:ext uri="{FF2B5EF4-FFF2-40B4-BE49-F238E27FC236}">
                <a16:creationId xmlns:a16="http://schemas.microsoft.com/office/drawing/2014/main" id="{DD2567E2-A69E-4C26-B585-8B3CB193C2D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37300" y="3108325"/>
            <a:ext cx="4333875" cy="3017838"/>
          </a:xfrm>
        </p:spPr>
        <p:txBody>
          <a:bodyPr rtlCol="0">
            <a:normAutofit lnSpcReduction="10000"/>
          </a:bodyPr>
          <a:lstStyle/>
          <a:p>
            <a:pPr marL="0" indent="0" rtl="0">
              <a:buNone/>
            </a:pPr>
            <a:r>
              <a:rPr lang="fr" b="1"/>
              <a:t>Besoin</a:t>
            </a:r>
            <a:r>
              <a:rPr lang="fr"/>
              <a:t> :</a:t>
            </a:r>
          </a:p>
          <a:p>
            <a:pPr rtl="0"/>
            <a:r>
              <a:rPr lang="fr"/>
              <a:t>Plus d’agilité et d’adaptabilité</a:t>
            </a:r>
          </a:p>
          <a:p>
            <a:pPr rtl="0"/>
            <a:r>
              <a:rPr lang="fr"/>
              <a:t>Un avantage concurrentiel plus fort</a:t>
            </a:r>
          </a:p>
          <a:p>
            <a:pPr rtl="0"/>
            <a:r>
              <a:rPr lang="fr"/>
              <a:t>Capacité à s’adapter rapidement</a:t>
            </a:r>
          </a:p>
          <a:p>
            <a:pPr rtl="0"/>
            <a:r>
              <a:rPr lang="fr"/>
              <a:t>Gardez une longueur d’avance</a:t>
            </a:r>
          </a:p>
          <a:p>
            <a:pPr rtl="0"/>
            <a:r>
              <a:rPr lang="fr"/>
              <a:t>Améliorer en permanence les offres</a:t>
            </a:r>
          </a:p>
          <a:p>
            <a:pPr rtl="0"/>
            <a:r>
              <a:rPr lang="fr"/>
              <a:t>Intégrer les commentaires des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306017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5B0A5-83E1-6923-9A19-E9CE76C4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 sz="3200">
                <a:effectLst/>
              </a:rPr>
              <a:t>Stratégie de croissance </a:t>
            </a:r>
            <a:endParaRPr lang="en-US" dirty="0"/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615AFC1B-63F1-9618-C761-E3F0AA578F6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fr" sz="1800"/>
              <a:t>Élargissez la portée du marché grâce à des partenariats stratégiques</a:t>
            </a:r>
          </a:p>
          <a:p>
            <a:pPr rtl="0"/>
            <a:r>
              <a:rPr lang="fr" sz="1800"/>
              <a:t>Améliorer les fonctionnalités du produit en fonction des commentaires des utilisateurs</a:t>
            </a:r>
          </a:p>
          <a:p>
            <a:pPr rtl="0"/>
            <a:r>
              <a:rPr lang="fr" sz="1800"/>
              <a:t>Explorer les opportunités de marché international</a:t>
            </a:r>
          </a:p>
          <a:p>
            <a:pPr rtl="0"/>
            <a:endParaRPr lang="en-US" dirty="0"/>
          </a:p>
        </p:txBody>
      </p:sp>
      <p:graphicFrame>
        <p:nvGraphicFramePr>
          <p:cNvPr id="5" name="Espace réservé de contenu 4" descr="Graphiques SmartArt Chronologie simple">
            <a:extLst>
              <a:ext uri="{FF2B5EF4-FFF2-40B4-BE49-F238E27FC236}">
                <a16:creationId xmlns:a16="http://schemas.microsoft.com/office/drawing/2014/main" id="{A6124125-C51D-2499-4F8C-1A077642ECF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362989150"/>
              </p:ext>
            </p:extLst>
          </p:nvPr>
        </p:nvGraphicFramePr>
        <p:xfrm>
          <a:off x="887413" y="3867150"/>
          <a:ext cx="10423525" cy="210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959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4CF172-3947-42CE-B33F-43FB799F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10424160" cy="1280160"/>
          </a:xfrm>
        </p:spPr>
        <p:txBody>
          <a:bodyPr rtlCol="0">
            <a:noAutofit/>
          </a:bodyPr>
          <a:lstStyle/>
          <a:p>
            <a:pPr rtl="0"/>
            <a:r>
              <a:rPr lang="fr"/>
              <a:t>Traction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3F60E421-E2CE-A4C8-82E9-F2C47A847E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952" y="3200400"/>
            <a:ext cx="6400800" cy="2926080"/>
          </a:xfrm>
        </p:spPr>
        <p:txBody>
          <a:bodyPr rtlCol="0"/>
          <a:lstStyle/>
          <a:p>
            <a:pPr rtl="0"/>
            <a:r>
              <a:rPr lang="fr"/>
              <a:t>Lancement de produit</a:t>
            </a:r>
          </a:p>
          <a:p>
            <a:pPr lvl="1" rtl="0"/>
            <a:r>
              <a:rPr lang="fr"/>
              <a:t>Introduction réussie de notre produit sur le marché</a:t>
            </a:r>
          </a:p>
          <a:p>
            <a:pPr rtl="0"/>
            <a:r>
              <a:rPr lang="fr"/>
              <a:t>Jalon de 10 000 utilisateurs</a:t>
            </a:r>
          </a:p>
          <a:p>
            <a:pPr lvl="1" rtl="0"/>
            <a:r>
              <a:rPr lang="fr"/>
              <a:t>Base d’utilisateurs importante, indiquant une demande croissante</a:t>
            </a:r>
          </a:p>
          <a:p>
            <a:pPr rtl="0"/>
            <a:r>
              <a:rPr lang="fr"/>
              <a:t>Partenariat stratégique</a:t>
            </a:r>
          </a:p>
          <a:p>
            <a:pPr lvl="1" rtl="0"/>
            <a:r>
              <a:rPr lang="fr"/>
              <a:t>Développement de la présence et des fonctionnalités sur le marché</a:t>
            </a:r>
          </a:p>
          <a:p>
            <a:pPr rtl="0"/>
            <a:endParaRPr lang="en-US" dirty="0"/>
          </a:p>
        </p:txBody>
      </p:sp>
      <p:graphicFrame>
        <p:nvGraphicFramePr>
          <p:cNvPr id="18" name="Espace réservé du tableau 2">
            <a:extLst>
              <a:ext uri="{FF2B5EF4-FFF2-40B4-BE49-F238E27FC236}">
                <a16:creationId xmlns:a16="http://schemas.microsoft.com/office/drawing/2014/main" id="{87CDDD7F-A5AF-89AD-15B9-D3664AB8C9E8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604748169"/>
              </p:ext>
            </p:extLst>
          </p:nvPr>
        </p:nvGraphicFramePr>
        <p:xfrm>
          <a:off x="7599363" y="3108325"/>
          <a:ext cx="3742659" cy="303580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583904">
                  <a:extLst>
                    <a:ext uri="{9D8B030D-6E8A-4147-A177-3AD203B41FA5}">
                      <a16:colId xmlns:a16="http://schemas.microsoft.com/office/drawing/2014/main" val="4076170109"/>
                    </a:ext>
                  </a:extLst>
                </a:gridCol>
                <a:gridCol w="1158755">
                  <a:extLst>
                    <a:ext uri="{9D8B030D-6E8A-4147-A177-3AD203B41FA5}">
                      <a16:colId xmlns:a16="http://schemas.microsoft.com/office/drawing/2014/main" val="185843454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Jalon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Trimestre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63924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Lancement du produit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T1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895526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Jalon de 10 000 utilisateurs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T2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902757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Partenariat stratégique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T3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3386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fr"/>
                        <a:t>Lancement de la campagne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/>
                        <a:t>T4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349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93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5E3A2-D7AF-4CD5-A5F2-A7655264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280160"/>
          </a:xfrm>
        </p:spPr>
        <p:txBody>
          <a:bodyPr rtlCol="0"/>
          <a:lstStyle/>
          <a:p>
            <a:pPr rtl="0"/>
            <a:r>
              <a:rPr lang="fr"/>
              <a:t>Données financières</a:t>
            </a:r>
          </a:p>
        </p:txBody>
      </p:sp>
      <p:graphicFrame>
        <p:nvGraphicFramePr>
          <p:cNvPr id="6" name="Espace réservé au tableau 3">
            <a:extLst>
              <a:ext uri="{FF2B5EF4-FFF2-40B4-BE49-F238E27FC236}">
                <a16:creationId xmlns:a16="http://schemas.microsoft.com/office/drawing/2014/main" id="{2CF38753-6573-F16E-8AF8-C6E1B1B4D2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786872"/>
              </p:ext>
            </p:extLst>
          </p:nvPr>
        </p:nvGraphicFramePr>
        <p:xfrm>
          <a:off x="1517650" y="3108325"/>
          <a:ext cx="9144000" cy="29260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Trimestre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dirty="0">
                          <a:latin typeface="+mn-lt"/>
                        </a:rPr>
                        <a:t>Chiffre d’affaires (€)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dirty="0">
                          <a:latin typeface="+mn-lt"/>
                        </a:rPr>
                        <a:t>Dépenses (€)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dirty="0">
                          <a:latin typeface="+mn-lt"/>
                        </a:rPr>
                        <a:t>Bénéfice net (€)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dirty="0">
                          <a:latin typeface="+mn-lt"/>
                        </a:rPr>
                        <a:t>200 000 €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150 000 €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50 000 €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300 000 €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200 000 €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100 000 €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400 000 €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250 000 €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150 000 €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300 000 €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>
                          <a:latin typeface="+mn-lt"/>
                        </a:rPr>
                        <a:t>200 000 €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r" dirty="0">
                          <a:latin typeface="+mn-lt"/>
                        </a:rPr>
                        <a:t>100 000 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4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>
            <a:extLst>
              <a:ext uri="{FF2B5EF4-FFF2-40B4-BE49-F238E27FC236}">
                <a16:creationId xmlns:a16="http://schemas.microsoft.com/office/drawing/2014/main" id="{15277E5C-1EE4-F968-26F2-A50D5B4F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"/>
              <a:t>Résumé</a:t>
            </a:r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4D79DD6C-5BEF-EF1D-3F4D-29E75E63C1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fr"/>
              <a:t>Positionnement fort sur le marché</a:t>
            </a:r>
          </a:p>
          <a:p>
            <a:pPr rtl="0"/>
            <a:r>
              <a:rPr lang="fr"/>
              <a:t>Stratégie de croissance robuste</a:t>
            </a:r>
          </a:p>
          <a:p>
            <a:pPr rtl="0"/>
            <a:r>
              <a:rPr lang="fr"/>
              <a:t>Développement de produits innovants</a:t>
            </a:r>
          </a:p>
          <a:p>
            <a:pPr rtl="0"/>
            <a:r>
              <a:rPr lang="fr"/>
              <a:t>Engagement vis-à-vis de la satisfaction des utilisateurs</a:t>
            </a:r>
          </a:p>
          <a:p>
            <a:pPr rtl="0"/>
            <a:endParaRPr lang="en-US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0A5B022A-A099-30B1-D276-022E37F4689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/>
          <a:p>
            <a:pPr rtl="0"/>
            <a:r>
              <a:rPr lang="fr"/>
              <a:t>Avec ce produit, Adatum Corporation est en mesure de réussir sur un marché dynamique. </a:t>
            </a:r>
          </a:p>
          <a:p>
            <a:pPr rtl="0"/>
            <a:r>
              <a:rPr lang="fr"/>
              <a:t>En nous concentrant sur l’innovation, l’expérience utilisateur et la croissance stratégique, nous prévoyons d’atteindre de nouveaux sommets au cours de l’année à venir.</a:t>
            </a:r>
          </a:p>
          <a:p>
            <a:pPr rtl="0"/>
            <a:r>
              <a:rPr lang="fr"/>
              <a:t>Notre engagement envers la satisfaction des utilisateurs souligne tous les aspects de nos opérations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041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C2480-21DF-4547-B928-8E2BEDC4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22282"/>
            <a:ext cx="10241280" cy="1554480"/>
          </a:xfrm>
        </p:spPr>
        <p:txBody>
          <a:bodyPr rtlCol="0"/>
          <a:lstStyle/>
          <a:p>
            <a:pPr rtl="0"/>
            <a:r>
              <a:rPr lang="fr"/>
              <a:t>Merci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C2C5F0-17A2-4505-B62E-A5178B8C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5" y="5486400"/>
            <a:ext cx="10240963" cy="549275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fr"/>
              <a:t>Dailan Neal | dailan@adatum.com | www.adatum.com</a:t>
            </a:r>
          </a:p>
        </p:txBody>
      </p:sp>
      <p:pic>
        <p:nvPicPr>
          <p:cNvPr id="10" name="Espace réservé d’image 9" descr="Gros plan sur un fruit du dragon">
            <a:extLst>
              <a:ext uri="{FF2B5EF4-FFF2-40B4-BE49-F238E27FC236}">
                <a16:creationId xmlns:a16="http://schemas.microsoft.com/office/drawing/2014/main" id="{8D6B48A4-267D-0EF4-A492-274369CD48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" r="3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94961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4">
      <a:majorFont>
        <a:latin typeface="Aharoni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 design_win32_EF_v3" id="{766CCFC2-5746-4D17-9C80-B854A2114008}" vid="{CF8EA309-49BB-462C-A82D-F569C6BF43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B7AAFC-BA46-4192-9EDD-FC31D26BDA5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426</Words>
  <Application>Microsoft Office PowerPoint</Application>
  <PresentationFormat>Grand écran</PresentationFormat>
  <Paragraphs>101</Paragraphs>
  <Slides>13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PrismaticVTI</vt:lpstr>
      <vt:lpstr>Présentation marketing </vt:lpstr>
      <vt:lpstr>Ordre du jour</vt:lpstr>
      <vt:lpstr>À propos de nous</vt:lpstr>
      <vt:lpstr>Présentation du produit</vt:lpstr>
      <vt:lpstr>Avantages du produit</vt:lpstr>
      <vt:lpstr>Aperçu du marché</vt:lpstr>
      <vt:lpstr>Comparaison du marché</vt:lpstr>
      <vt:lpstr>Paysage concurrentiel</vt:lpstr>
      <vt:lpstr>Stratégie de croissance </vt:lpstr>
      <vt:lpstr>Traction</vt:lpstr>
      <vt:lpstr>Données financières</vt:lpstr>
      <vt:lpstr>Résumé</vt:lpstr>
      <vt:lpstr>Merci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2026-08-15T19:16:43Z</dcterms:created>
  <dcterms:modified xsi:type="dcterms:W3CDTF">2026-08-15T19:45:09Z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